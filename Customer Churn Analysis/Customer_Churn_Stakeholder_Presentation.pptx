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A4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C00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A7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6A69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6A69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&lt; 6 Months</c:v>
                  </c:pt>
                  <c:pt idx="1">
                    <c:v>6–12 Months</c:v>
                  </c:pt>
                  <c:pt idx="2">
                    <c:v>12–24 Months</c:v>
                  </c:pt>
                  <c:pt idx="3">
                    <c:v>24–36 Months</c:v>
                  </c:pt>
                  <c:pt idx="4">
                    <c:v>&gt; 36 Months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</c:v>
                </c:pt>
                <c:pt idx="1">
                  <c:v>38</c:v>
                </c:pt>
                <c:pt idx="2">
                  <c:v>29</c:v>
                </c:pt>
                <c:pt idx="3">
                  <c:v>17</c:v>
                </c:pt>
                <c:pt idx="4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A4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A4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A4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C0000"/>
              </a:solidFill>
              <a:effectLst/>
            </c:spPr>
          </c:dPt>
          <c:dPt>
            <c:idx val="1"/>
            <c:bubble3D val="0"/>
            <c:spPr>
              <a:solidFill>
                <a:srgbClr val="1A1F5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939</c:v>
                </c:pt>
                <c:pt idx="1">
                  <c:v>793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26A6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A4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6A6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A7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A7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C000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&lt;20</c:v>
                  </c:pt>
                  <c:pt idx="1">
                    <c:v>20-35</c:v>
                  </c:pt>
                  <c:pt idx="2">
                    <c:v>36-50</c:v>
                  </c:pt>
                  <c:pt idx="3">
                    <c:v>51-65</c:v>
                  </c:pt>
                  <c:pt idx="4">
                    <c:v>&gt;65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23</c:v>
                </c:pt>
                <c:pt idx="2">
                  <c:v>28</c:v>
                </c:pt>
                <c:pt idx="3">
                  <c:v>35</c:v>
                </c:pt>
                <c:pt idx="4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A4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A4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A4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A4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C00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A7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6A6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Month-to-Month</c:v>
                  </c:pt>
                  <c:pt idx="1">
                    <c:v>One Year</c:v>
                  </c:pt>
                  <c:pt idx="2">
                    <c:v>Two Year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46.5</c:v>
                </c:pt>
                <c:pt idx="1">
                  <c:v>11</c:v>
                </c:pt>
                <c:pt idx="2">
                  <c:v>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A4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A4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A4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26A6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A4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6A6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6A6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6A6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C00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Mailed Check</c:v>
                  </c:pt>
                  <c:pt idx="1">
                    <c:v>Bank Transfer</c:v>
                  </c:pt>
                  <c:pt idx="2">
                    <c:v>Credit Card</c:v>
                  </c:pt>
                  <c:pt idx="3">
                    <c:v>Electronic Check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19.1</c:v>
                </c:pt>
                <c:pt idx="1">
                  <c:v>16.7</c:v>
                </c:pt>
                <c:pt idx="2">
                  <c:v>15.2</c:v>
                </c:pt>
                <c:pt idx="3">
                  <c:v>45.3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A4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A4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A4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Churners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A4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C00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A7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A72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892A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Competitor</c:v>
                  </c:pt>
                  <c:pt idx="1">
                    <c:v>Attitude</c:v>
                  </c:pt>
                  <c:pt idx="2">
                    <c:v>Dissatisfaction</c:v>
                  </c:pt>
                  <c:pt idx="3">
                    <c:v>Price</c:v>
                  </c:pt>
                  <c:pt idx="4">
                    <c:v>Other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761</c:v>
                </c:pt>
                <c:pt idx="1">
                  <c:v>299</c:v>
                </c:pt>
                <c:pt idx="2">
                  <c:v>262</c:v>
                </c:pt>
                <c:pt idx="3">
                  <c:v>196</c:v>
                </c:pt>
                <c:pt idx="4">
                  <c:v>214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A4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A4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A4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A4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C00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A7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6A6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6A6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Fiber Optic</c:v>
                  </c:pt>
                  <c:pt idx="1">
                    <c:v>Cable</c:v>
                  </c:pt>
                  <c:pt idx="2">
                    <c:v>DSL</c:v>
                  </c:pt>
                  <c:pt idx="3">
                    <c:v>None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41.1</c:v>
                </c:pt>
                <c:pt idx="1">
                  <c:v>25.7</c:v>
                </c:pt>
                <c:pt idx="2">
                  <c:v>19.4</c:v>
                </c:pt>
                <c:pt idx="3">
                  <c:v>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A4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A4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A4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A4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C00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C00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A72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Jammu &amp; Kashmir</c:v>
                  </c:pt>
                  <c:pt idx="1">
                    <c:v>Assam</c:v>
                  </c:pt>
                  <c:pt idx="2">
                    <c:v>Jharkhand</c:v>
                  </c:pt>
                  <c:pt idx="3">
                    <c:v>Chhattisgarh</c:v>
                  </c:pt>
                  <c:pt idx="4">
                    <c:v>Bihar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57.2</c:v>
                </c:pt>
                <c:pt idx="1">
                  <c:v>48.7</c:v>
                </c:pt>
                <c:pt idx="2">
                  <c:v>44.3</c:v>
                </c:pt>
                <c:pt idx="3">
                  <c:v>41.9</c:v>
                </c:pt>
                <c:pt idx="4">
                  <c:v>39.2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A4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A4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A4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C0000"/>
              </a:solidFill>
              <a:effectLst/>
            </c:spPr>
          </c:dPt>
          <c:dPt>
            <c:idx val="1"/>
            <c:bubble3D val="0"/>
            <c:spPr>
              <a:solidFill>
                <a:srgbClr val="FFCDD2"/>
              </a:solidFill>
              <a:effectLst/>
            </c:spPr>
          </c:dPt>
          <c:dPt>
            <c:idx val="2"/>
            <c:bubble3D val="0"/>
            <c:spPr>
              <a:solidFill>
                <a:srgbClr val="2D3494"/>
              </a:solidFill>
              <a:effectLst/>
            </c:spPr>
          </c:dPt>
          <c:dPt>
            <c:idx val="3"/>
            <c:bubble3D val="0"/>
            <c:spPr>
              <a:solidFill>
                <a:srgbClr val="C5CAE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Single (Churned)</c:v>
                </c:pt>
                <c:pt idx="1">
                  <c:v>Single (Stayed)</c:v>
                </c:pt>
                <c:pt idx="2">
                  <c:v>Married (Churned)</c:v>
                </c:pt>
                <c:pt idx="3">
                  <c:v>Married (Stayed)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1012</c:v>
                </c:pt>
                <c:pt idx="1">
                  <c:v>1928</c:v>
                </c:pt>
                <c:pt idx="2">
                  <c:v>720</c:v>
                </c:pt>
                <c:pt idx="3">
                  <c:v>3027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Churners</c:v>
                </c:pt>
              </c:strCache>
            </c:strRef>
          </c:tx>
          <c:spPr>
            <a:solidFill>
              <a:srgbClr val="26A6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A4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6A6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6A6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A7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C00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C000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&lt;20</c:v>
                  </c:pt>
                  <c:pt idx="1">
                    <c:v>20-35</c:v>
                  </c:pt>
                  <c:pt idx="2">
                    <c:v>36-50</c:v>
                  </c:pt>
                  <c:pt idx="3">
                    <c:v>51-65</c:v>
                  </c:pt>
                  <c:pt idx="4">
                    <c:v>&gt;65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</c:v>
                </c:pt>
                <c:pt idx="1">
                  <c:v>52</c:v>
                </c:pt>
                <c:pt idx="2">
                  <c:v>98</c:v>
                </c:pt>
                <c:pt idx="3">
                  <c:v>136</c:v>
                </c:pt>
                <c:pt idx="4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A4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A4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A4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Churners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A4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C00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C00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A7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6A69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6A69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0–6 mo</c:v>
                  </c:pt>
                  <c:pt idx="1">
                    <c:v>6–12 mo</c:v>
                  </c:pt>
                  <c:pt idx="2">
                    <c:v>12–24 mo</c:v>
                  </c:pt>
                  <c:pt idx="3">
                    <c:v>24–36 mo</c:v>
                  </c:pt>
                  <c:pt idx="4">
                    <c:v>&gt;36 mo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187</c:v>
                </c:pt>
                <c:pt idx="1">
                  <c:v>94</c:v>
                </c:pt>
                <c:pt idx="2">
                  <c:v>57</c:v>
                </c:pt>
                <c:pt idx="3">
                  <c:v>28</c:v>
                </c:pt>
                <c:pt idx="4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A4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A4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A4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chart" Target="/ppt/charts/chart1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005840"/>
            <a:ext cx="64008" cy="3108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CHURN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Insights for Stakeholders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429000"/>
            <a:ext cx="4114800" cy="36576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Power BI  ·  Customer Churn Dashboard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3494"/>
          </a:solidFill>
          <a:ln w="12700">
            <a:solidFill>
              <a:srgbClr val="2D34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INTERVIEW PRESENTATION ONLY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0" y="457200"/>
            <a:ext cx="2286000" cy="2286000"/>
          </a:xfrm>
          <a:prstGeom prst="ellipse">
            <a:avLst/>
          </a:prstGeom>
          <a:solidFill>
            <a:srgbClr val="2D3494">
              <a:alpha val="40000"/>
            </a:srgbClr>
          </a:solidFill>
          <a:ln w="12700">
            <a:solidFill>
              <a:srgbClr val="2D3494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0" y="1371600"/>
            <a:ext cx="1371600" cy="1371600"/>
          </a:xfrm>
          <a:prstGeom prst="ellipse">
            <a:avLst/>
          </a:prstGeom>
          <a:solidFill>
            <a:srgbClr val="CC0000">
              <a:alpha val="30000"/>
            </a:srgbClr>
          </a:solidFill>
          <a:ln w="12700">
            <a:solidFill>
              <a:srgbClr val="CC0000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4864" cy="10058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5270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KPIs at a glance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54864" cy="10058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40680" y="11430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Churning?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40680" y="15270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&amp; account profile of churners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86000"/>
            <a:ext cx="54864" cy="10058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2377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Leave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27614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reasons and categories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86000"/>
            <a:ext cx="54864" cy="10058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40680" y="2377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&amp; How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40680" y="27614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hot spots &amp; service drivers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52044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20440"/>
            <a:ext cx="54864" cy="10058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51560" y="3611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Risk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51560" y="39959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identified as future churners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2044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20440"/>
            <a:ext cx="54864" cy="10058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40680" y="3611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40680" y="39959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steps to reduce churn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·  Stakeholder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20240" cy="141732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155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6,687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1155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411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560320" y="1755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1920240" cy="1417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1155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1,732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63440" y="1755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Churned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00584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1155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26.5%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766560" y="1755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606040"/>
            <a:ext cx="8412480" cy="640080"/>
          </a:xfrm>
          <a:prstGeom prst="rect">
            <a:avLst/>
          </a:prstGeom>
          <a:solidFill>
            <a:srgbClr val="252A7E"/>
          </a:solidFill>
          <a:ln w="12700">
            <a:solidFill>
              <a:srgbClr val="252A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06040"/>
            <a:ext cx="54864" cy="6400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606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KEY INSIGHT: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26060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26.5%, the churn rate is nearly 3× the industry benchmark of ~9%. Every month of inaction costs approximately $310K in lost revenue.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383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TREND BY TENURE GROUP</a:t>
            </a:r>
            <a:endParaRPr lang="en-US" sz="12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274320" y="3611880"/>
          <a:ext cx="512064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576072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GENDER</a:t>
            </a:r>
            <a:endParaRPr lang="en-US" sz="120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5669280" y="3611880"/>
          <a:ext cx="32004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·  Stakeholder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IS CHURNING?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&amp; Account Profile of Churners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AGE GROUP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234440"/>
          <a:ext cx="41148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CONTRACT TYPE</a:t>
            </a:r>
            <a:endParaRPr lang="en-US" sz="12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663440" y="1234440"/>
          <a:ext cx="41148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365760" y="3017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PAYMENT METHOD</a:t>
            </a:r>
            <a:endParaRPr lang="en-US" sz="1200" dirty="0"/>
          </a:p>
        </p:txBody>
      </p:sp>
      <p:graphicFrame>
        <p:nvGraphicFramePr>
          <p:cNvPr id="10" name="Chart 2" descr=""/>
          <p:cNvGraphicFramePr/>
          <p:nvPr/>
        </p:nvGraphicFramePr>
        <p:xfrm>
          <a:off x="274320" y="3246120"/>
          <a:ext cx="411480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Shape 6"/>
          <p:cNvSpPr/>
          <p:nvPr/>
        </p:nvSpPr>
        <p:spPr>
          <a:xfrm>
            <a:off x="4663440" y="3017520"/>
            <a:ext cx="4114800" cy="173736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4663440" y="3017520"/>
            <a:ext cx="54864" cy="1737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800600" y="3090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 PROFILE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800600" y="34564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51–65+ with highest risk (35–42% churn rate)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800600" y="377647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contracts dominate at 46.5%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800600" y="40965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payers churn at nearly 3× average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800600" y="44165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Singles slightly more likely to churn than married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·  Stakeholder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CUSTOMERS LEAVE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Reasons &amp; Categories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CATEGORY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234440"/>
          <a:ext cx="51206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760720" y="1005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SPECIFIC CHURN REASONS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0" y="1325880"/>
            <a:ext cx="3246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0" y="1325880"/>
            <a:ext cx="4572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06440" y="136245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had better devices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138160" y="136245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16.9%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0" y="1673352"/>
            <a:ext cx="3246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0" y="1673352"/>
            <a:ext cx="4572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06440" y="17099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made better offer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138160" y="17099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0" y="2020824"/>
            <a:ext cx="3246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69280" y="2020824"/>
            <a:ext cx="45720" cy="29260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06440" y="20574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Attitude of support staff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138160" y="20574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11.3%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669280" y="2368296"/>
            <a:ext cx="3246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669280" y="2368296"/>
            <a:ext cx="45720" cy="292608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24048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offered more data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138160" y="240487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9.8%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669280" y="2715768"/>
            <a:ext cx="3246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669280" y="2715768"/>
            <a:ext cx="45720" cy="292608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27523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too high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138160" y="275234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8.7%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65760" y="3200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INTERNET TYPE</a:t>
            </a:r>
            <a:endParaRPr lang="en-US" sz="1200" dirty="0"/>
          </a:p>
        </p:txBody>
      </p:sp>
      <p:graphicFrame>
        <p:nvGraphicFramePr>
          <p:cNvPr id="29" name="Chart 1" descr=""/>
          <p:cNvGraphicFramePr/>
          <p:nvPr/>
        </p:nvGraphicFramePr>
        <p:xfrm>
          <a:off x="274320" y="3429000"/>
          <a:ext cx="512064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Shape 26"/>
          <p:cNvSpPr/>
          <p:nvPr/>
        </p:nvSpPr>
        <p:spPr>
          <a:xfrm>
            <a:off x="5669280" y="3200400"/>
            <a:ext cx="3246120" cy="1508760"/>
          </a:xfrm>
          <a:prstGeom prst="rect">
            <a:avLst/>
          </a:prstGeom>
          <a:solidFill>
            <a:srgbClr val="252A7E"/>
          </a:solidFill>
          <a:ln w="12700">
            <a:solidFill>
              <a:srgbClr val="252A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5669280" y="3200400"/>
            <a:ext cx="54864" cy="15087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806440" y="32552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COMPETITIVE THREAT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5806440" y="35661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of churners left because a competitor offered better value — devices, data, or pricing. This is the single largest category and demands an urgent product/pricing response.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·  Stakeholder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&amp; HOW: GEOGRAPHIC + SERVICES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Churn Hot Spots &amp; Service Subscription Impact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STATES BY CHURN RATE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234440"/>
          <a:ext cx="41148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SERVICE SUBSCRIPTION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34440"/>
          <a:ext cx="4206240" cy="192024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731520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Churned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Stayed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A4C"/>
                          </a:solidFill>
                        </a:rPr>
                        <a:t>No Internet Service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A4C"/>
                          </a:solidFill>
                        </a:rPr>
                        <a:t>92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A4C"/>
                          </a:solidFill>
                        </a:rPr>
                        <a:t>1,411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A69A"/>
                          </a:solidFill>
                        </a:rPr>
                        <a:t>6.1%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A4C"/>
                          </a:solidFill>
                        </a:rPr>
                        <a:t>Online Security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A4C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A4C"/>
                          </a:solidFill>
                        </a:rPr>
                        <a:t>1,892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A69A"/>
                          </a:solidFill>
                        </a:rPr>
                        <a:t>8.0%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A4C"/>
                          </a:solidFill>
                        </a:rPr>
                        <a:t>Tech Support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A4C"/>
                          </a:solidFill>
                        </a:rPr>
                        <a:t>205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A4C"/>
                          </a:solidFill>
                        </a:rPr>
                        <a:t>1,861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A69A"/>
                          </a:solidFill>
                        </a:rPr>
                        <a:t>9.9%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A4C"/>
                          </a:solidFill>
                        </a:rPr>
                        <a:t>Online Backup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A4C"/>
                          </a:solidFill>
                        </a:rPr>
                        <a:t>386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A4C"/>
                          </a:solidFill>
                        </a:rPr>
                        <a:t>1,590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19.5%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A4C"/>
                          </a:solidFill>
                        </a:rPr>
                        <a:t>No Online Security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A4C"/>
                          </a:solidFill>
                        </a:rPr>
                        <a:t>1,567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A4C"/>
                          </a:solidFill>
                        </a:rPr>
                        <a:t>2,174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</a:rPr>
                        <a:t>41.9%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A4C"/>
                          </a:solidFill>
                        </a:rPr>
                        <a:t>Fiber Optic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A4C"/>
                          </a:solidFill>
                        </a:rPr>
                        <a:t>1,236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A4C"/>
                          </a:solidFill>
                        </a:rPr>
                        <a:t>1,770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</a:rPr>
                        <a:t>41.1%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3200400"/>
            <a:ext cx="8595360" cy="64008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74320" y="3200400"/>
            <a:ext cx="54864" cy="6400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3200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SERVICE INSIGHT: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737360" y="3200400"/>
            <a:ext cx="6995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without Online Security or Tech Support churn at 41–42% — over 5× the rate of protected subscribers. Upselling protective services is a high-ROI retention lever.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5760" y="3977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RATE: SINGLE vs. MARRIED</a:t>
            </a:r>
            <a:endParaRPr lang="en-US" sz="12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274320" y="4206240"/>
          <a:ext cx="3657600" cy="548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hape 10"/>
          <p:cNvSpPr/>
          <p:nvPr/>
        </p:nvSpPr>
        <p:spPr>
          <a:xfrm>
            <a:off x="4572000" y="3977640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4709160" y="4005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CHARGE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709160" y="42793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$74.44  </a:t>
            </a:r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 vs  </a:t>
            </a:r>
            <a:pPr indent="0" marL="0">
              <a:buNone/>
            </a:pPr>
            <a:r>
              <a:rPr lang="en-US" sz="2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$61.27  </a:t>
            </a:r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·  Stakeholder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PREDICTED CHURN RISK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Customer Risk Analysis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560320" cy="10972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789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378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to Churn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019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period forecast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560320" cy="109728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0789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$27K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38328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19019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0789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5.6%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21792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Active Base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19019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 needed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CHURNER AGE PROFILE</a:t>
            </a:r>
            <a:endParaRPr lang="en-US" sz="12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274320" y="2560320"/>
          <a:ext cx="411480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4663440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CHURNER TENURE PROFILE</a:t>
            </a:r>
            <a:endParaRPr lang="en-US" sz="1200" dirty="0"/>
          </a:p>
        </p:txBody>
      </p:sp>
      <p:graphicFrame>
        <p:nvGraphicFramePr>
          <p:cNvPr id="20" name="Chart 1" descr=""/>
          <p:cNvGraphicFramePr/>
          <p:nvPr/>
        </p:nvGraphicFramePr>
        <p:xfrm>
          <a:off x="4572000" y="2560320"/>
          <a:ext cx="411480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Shape 17"/>
          <p:cNvSpPr/>
          <p:nvPr/>
        </p:nvSpPr>
        <p:spPr>
          <a:xfrm>
            <a:off x="274320" y="4160520"/>
            <a:ext cx="8595360" cy="640080"/>
          </a:xfrm>
          <a:prstGeom prst="rect">
            <a:avLst/>
          </a:prstGeom>
          <a:solidFill>
            <a:srgbClr val="252A7E"/>
          </a:solidFill>
          <a:ln w="12700">
            <a:solidFill>
              <a:srgbClr val="252A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74320" y="4160520"/>
            <a:ext cx="54864" cy="6400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7200" y="4160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EARLY WARNING: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1828800" y="4160520"/>
            <a:ext cx="6903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49.5% of predicted churners are in their first 6 months — onboarding quality and early engagement are critical intervention points. Priority outreach should target 51–65 age segment on M2M contracts.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·  Stakeholder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Steps to Reduce Churn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06240" cy="1051560"/>
          </a:xfrm>
          <a:prstGeom prst="rect">
            <a:avLst/>
          </a:prstGeom>
          <a:solidFill>
            <a:srgbClr val="2D3494"/>
          </a:solidFill>
          <a:ln w="12700">
            <a:solidFill>
              <a:srgbClr val="2D349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54864" cy="10515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143000"/>
            <a:ext cx="365760" cy="3657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1247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M2M to Annual Contracts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4447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discounted annual plans to Month-to-Month customers. Contract upgrades reduce churn from 46.5% to 11%.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77640" y="1444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09160" y="1051560"/>
            <a:ext cx="4206240" cy="1051560"/>
          </a:xfrm>
          <a:prstGeom prst="rect">
            <a:avLst/>
          </a:prstGeom>
          <a:solidFill>
            <a:srgbClr val="2D3494"/>
          </a:solidFill>
          <a:ln w="12700">
            <a:solidFill>
              <a:srgbClr val="2D349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51560"/>
            <a:ext cx="54864" cy="10515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28032" y="1143000"/>
            <a:ext cx="365760" cy="3657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0" y="11247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Win-Back Program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0" y="14447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device and data bundle upgrades targeting customers who've searched competitor offers.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0" y="1444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240280"/>
            <a:ext cx="4206240" cy="1051560"/>
          </a:xfrm>
          <a:prstGeom prst="rect">
            <a:avLst/>
          </a:prstGeom>
          <a:solidFill>
            <a:srgbClr val="2D3494"/>
          </a:solidFill>
          <a:ln w="12700">
            <a:solidFill>
              <a:srgbClr val="2D349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40280"/>
            <a:ext cx="54864" cy="105156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3192" y="2331720"/>
            <a:ext cx="365760" cy="365760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2313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Add-On Upsell Campaign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26334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without Online Security churn at 42%. Bundle security services at onboarding.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77640" y="26334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09160" y="2240280"/>
            <a:ext cx="4206240" cy="1051560"/>
          </a:xfrm>
          <a:prstGeom prst="rect">
            <a:avLst/>
          </a:prstGeom>
          <a:solidFill>
            <a:srgbClr val="2D3494"/>
          </a:solidFill>
          <a:ln w="12700">
            <a:solidFill>
              <a:srgbClr val="2D349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240280"/>
            <a:ext cx="54864" cy="105156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28032" y="2331720"/>
            <a:ext cx="365760" cy="365760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03520" y="2313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Segment Retention Program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26334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outreach for 51–65+ age group via simplified pricing, dedicated support, and loyalty benefits.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12480" y="26334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3429000"/>
            <a:ext cx="4206240" cy="1051560"/>
          </a:xfrm>
          <a:prstGeom prst="rect">
            <a:avLst/>
          </a:prstGeom>
          <a:solidFill>
            <a:srgbClr val="2D3494"/>
          </a:solidFill>
          <a:ln w="12700">
            <a:solidFill>
              <a:srgbClr val="2D349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429000"/>
            <a:ext cx="54864" cy="10515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3192" y="3520440"/>
            <a:ext cx="365760" cy="3657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68680" y="35021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Experience Overhaul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8680" y="38221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predicted churners are &lt; 6 months old. Improve first-90-days engagement and support.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77640" y="38221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09160" y="3429000"/>
            <a:ext cx="4206240" cy="1051560"/>
          </a:xfrm>
          <a:prstGeom prst="rect">
            <a:avLst/>
          </a:prstGeom>
          <a:solidFill>
            <a:srgbClr val="2D3494"/>
          </a:solidFill>
          <a:ln w="12700">
            <a:solidFill>
              <a:srgbClr val="2D349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429000"/>
            <a:ext cx="54864" cy="105156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28032" y="3520440"/>
            <a:ext cx="365760" cy="365760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03520" y="35021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Intervention: High-Risk States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03520" y="38221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targeted offers in Jammu &amp; Kashmir, Assam &amp; Jharkhand — where churn exceeds 44%.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412480" y="38221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3494"/>
          </a:solidFill>
          <a:ln w="12700">
            <a:solidFill>
              <a:srgbClr val="2D349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·  Stakeholder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914400"/>
            <a:ext cx="3200400" cy="3200400"/>
          </a:xfrm>
          <a:prstGeom prst="ellipse">
            <a:avLst/>
          </a:prstGeom>
          <a:solidFill>
            <a:srgbClr val="2D3494">
              <a:alpha val="50000"/>
            </a:srgbClr>
          </a:solidFill>
          <a:ln w="12700">
            <a:solidFill>
              <a:srgbClr val="2D3494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1828800"/>
            <a:ext cx="1828800" cy="1828800"/>
          </a:xfrm>
          <a:prstGeom prst="ellipse">
            <a:avLst/>
          </a:prstGeom>
          <a:solidFill>
            <a:srgbClr val="CC0000">
              <a:alpha val="35000"/>
            </a:srgbClr>
          </a:solidFill>
          <a:ln w="12700">
            <a:solidFill>
              <a:srgbClr val="CC0000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02920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26.5% churn rate is a solvable problem. With targeted interventions in contract conversion, competitive response, and onboarding — we can realistically reduce churn to below 15% within 12 months, recovering over $2M in annual recurring revenue.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1828800" cy="731520"/>
          </a:xfrm>
          <a:prstGeom prst="rect">
            <a:avLst/>
          </a:prstGeom>
          <a:solidFill>
            <a:srgbClr val="2D3494"/>
          </a:solidFill>
          <a:ln w="12700">
            <a:solidFill>
              <a:srgbClr val="2D34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0050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6,687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43891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3977640"/>
            <a:ext cx="1828800" cy="731520"/>
          </a:xfrm>
          <a:prstGeom prst="rect">
            <a:avLst/>
          </a:prstGeom>
          <a:solidFill>
            <a:srgbClr val="2D3494"/>
          </a:solidFill>
          <a:ln w="12700">
            <a:solidFill>
              <a:srgbClr val="2D34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40050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26.5%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06040" y="43891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3977640"/>
            <a:ext cx="1828800" cy="731520"/>
          </a:xfrm>
          <a:prstGeom prst="rect">
            <a:avLst/>
          </a:prstGeom>
          <a:solidFill>
            <a:srgbClr val="2D3494"/>
          </a:solidFill>
          <a:ln w="12700">
            <a:solidFill>
              <a:srgbClr val="2D34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40050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1,732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09160" y="43891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3977640"/>
            <a:ext cx="1828800" cy="731520"/>
          </a:xfrm>
          <a:prstGeom prst="rect">
            <a:avLst/>
          </a:prstGeom>
          <a:solidFill>
            <a:srgbClr val="2D3494"/>
          </a:solidFill>
          <a:ln w="12700">
            <a:solidFill>
              <a:srgbClr val="2D34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40050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378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12280" y="43891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3494"/>
          </a:solidFill>
          <a:ln w="12700">
            <a:solidFill>
              <a:srgbClr val="2D34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·  Stakeholder Presentation  ·  Q&amp;A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</dc:title>
  <dc:subject>PptxGenJS Presentation</dc:subject>
  <dc:creator>PptxGenJS</dc:creator>
  <cp:lastModifiedBy>PptxGenJS</cp:lastModifiedBy>
  <cp:revision>1</cp:revision>
  <dcterms:created xsi:type="dcterms:W3CDTF">2026-02-23T17:49:02Z</dcterms:created>
  <dcterms:modified xsi:type="dcterms:W3CDTF">2026-02-23T17:49:02Z</dcterms:modified>
</cp:coreProperties>
</file>